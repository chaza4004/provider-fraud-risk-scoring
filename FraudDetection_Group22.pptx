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000000"/>
                </a:solidFill>
                <a:latin typeface="Arial"/>
              </a:rPr>
              <a:t>AUPRC by Model (Before vs After)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Undersampling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LR</c:v>
                </c:pt>
                <c:pt idx="1">
                  <c:v>RF</c:v>
                </c:pt>
                <c:pt idx="2">
                  <c:v>SMOTE+RF</c:v>
                </c:pt>
                <c:pt idx="3">
                  <c:v>BRF</c:v>
                </c:pt>
                <c:pt idx="4">
                  <c:v>XGB Tuned</c:v>
                </c:pt>
                <c:pt idx="5">
                  <c:v>SMOTE+XGB</c:v>
                </c:pt>
                <c:pt idx="6">
                  <c:v>Imp. XGB</c:v>
                </c:pt>
                <c:pt idx="7">
                  <c:v>Ensemble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8.0000000000000004E-4</c:v>
                </c:pt>
                <c:pt idx="1">
                  <c:v>5.0000000000000001E-4</c:v>
                </c:pt>
                <c:pt idx="2">
                  <c:v>5.0000000000000001E-4</c:v>
                </c:pt>
                <c:pt idx="3">
                  <c:v>2.0999999999999999E-3</c:v>
                </c:pt>
                <c:pt idx="4">
                  <c:v>9.4999999999999998E-3</c:v>
                </c:pt>
                <c:pt idx="5">
                  <c:v>8.9999999999999998E-4</c:v>
                </c:pt>
                <c:pt idx="6">
                  <c:v>4.0000000000000002E-4</c:v>
                </c:pt>
                <c:pt idx="7">
                  <c:v>7.4999999999999997E-3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84-6D46-8020-B5DE624B51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Undersampling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LR</c:v>
                </c:pt>
                <c:pt idx="1">
                  <c:v>RF</c:v>
                </c:pt>
                <c:pt idx="2">
                  <c:v>SMOTE+RF</c:v>
                </c:pt>
                <c:pt idx="3">
                  <c:v>BRF</c:v>
                </c:pt>
                <c:pt idx="4">
                  <c:v>XGB Tuned</c:v>
                </c:pt>
                <c:pt idx="5">
                  <c:v>SMOTE+XGB</c:v>
                </c:pt>
                <c:pt idx="6">
                  <c:v>Imp. XGB</c:v>
                </c:pt>
                <c:pt idx="7">
                  <c:v>Ensemble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0.1658</c:v>
                </c:pt>
                <c:pt idx="1">
                  <c:v>0.20369999999999999</c:v>
                </c:pt>
                <c:pt idx="2">
                  <c:v>0.2223</c:v>
                </c:pt>
                <c:pt idx="3">
                  <c:v>0.191</c:v>
                </c:pt>
                <c:pt idx="4">
                  <c:v>0.21840000000000001</c:v>
                </c:pt>
                <c:pt idx="5">
                  <c:v>0.25240000000000001</c:v>
                </c:pt>
                <c:pt idx="6">
                  <c:v>0.19389999999999999</c:v>
                </c:pt>
                <c:pt idx="7">
                  <c:v>0.1948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84-6D46-8020-B5DE624B51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000000"/>
                    </a:solidFill>
                    <a:latin typeface="Arial"/>
                  </a:rPr>
                  <a:t>AUPRC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935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6858000" y="27432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Shape 2"/>
          <p:cNvSpPr/>
          <p:nvPr/>
        </p:nvSpPr>
        <p:spPr>
          <a:xfrm>
            <a:off x="7269480" y="27432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4"/>
          <p:cNvSpPr/>
          <p:nvPr/>
        </p:nvSpPr>
        <p:spPr>
          <a:xfrm>
            <a:off x="8092440" y="27432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5"/>
          <p:cNvSpPr/>
          <p:nvPr/>
        </p:nvSpPr>
        <p:spPr>
          <a:xfrm>
            <a:off x="8503920" y="27432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6"/>
          <p:cNvSpPr/>
          <p:nvPr/>
        </p:nvSpPr>
        <p:spPr>
          <a:xfrm>
            <a:off x="6858000" y="100584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7"/>
          <p:cNvSpPr/>
          <p:nvPr/>
        </p:nvSpPr>
        <p:spPr>
          <a:xfrm>
            <a:off x="7269480" y="100584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8"/>
          <p:cNvSpPr/>
          <p:nvPr/>
        </p:nvSpPr>
        <p:spPr>
          <a:xfrm>
            <a:off x="7680960" y="100584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9"/>
          <p:cNvSpPr/>
          <p:nvPr/>
        </p:nvSpPr>
        <p:spPr>
          <a:xfrm>
            <a:off x="8092440" y="100584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10"/>
          <p:cNvSpPr/>
          <p:nvPr/>
        </p:nvSpPr>
        <p:spPr>
          <a:xfrm>
            <a:off x="8503920" y="100584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1"/>
          <p:cNvSpPr/>
          <p:nvPr/>
        </p:nvSpPr>
        <p:spPr>
          <a:xfrm>
            <a:off x="6858000" y="173736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2"/>
          <p:cNvSpPr/>
          <p:nvPr/>
        </p:nvSpPr>
        <p:spPr>
          <a:xfrm>
            <a:off x="7269480" y="173736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3"/>
          <p:cNvSpPr/>
          <p:nvPr/>
        </p:nvSpPr>
        <p:spPr>
          <a:xfrm>
            <a:off x="7680960" y="173736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4"/>
          <p:cNvSpPr/>
          <p:nvPr/>
        </p:nvSpPr>
        <p:spPr>
          <a:xfrm>
            <a:off x="8092440" y="173736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5"/>
          <p:cNvSpPr/>
          <p:nvPr/>
        </p:nvSpPr>
        <p:spPr>
          <a:xfrm>
            <a:off x="8503920" y="173736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6"/>
          <p:cNvSpPr/>
          <p:nvPr/>
        </p:nvSpPr>
        <p:spPr>
          <a:xfrm>
            <a:off x="6858000" y="246888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9" name="Shape 17"/>
          <p:cNvSpPr/>
          <p:nvPr/>
        </p:nvSpPr>
        <p:spPr>
          <a:xfrm>
            <a:off x="7269480" y="246888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0" name="Shape 18"/>
          <p:cNvSpPr/>
          <p:nvPr/>
        </p:nvSpPr>
        <p:spPr>
          <a:xfrm>
            <a:off x="7680960" y="246888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1" name="Shape 19"/>
          <p:cNvSpPr/>
          <p:nvPr/>
        </p:nvSpPr>
        <p:spPr>
          <a:xfrm>
            <a:off x="8092440" y="246888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Shape 20"/>
          <p:cNvSpPr/>
          <p:nvPr/>
        </p:nvSpPr>
        <p:spPr>
          <a:xfrm>
            <a:off x="8503920" y="246888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3" name="Shape 21"/>
          <p:cNvSpPr/>
          <p:nvPr/>
        </p:nvSpPr>
        <p:spPr>
          <a:xfrm>
            <a:off x="6858000" y="320040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Shape 22"/>
          <p:cNvSpPr/>
          <p:nvPr/>
        </p:nvSpPr>
        <p:spPr>
          <a:xfrm>
            <a:off x="7269480" y="320040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Shape 23"/>
          <p:cNvSpPr/>
          <p:nvPr/>
        </p:nvSpPr>
        <p:spPr>
          <a:xfrm>
            <a:off x="7680960" y="320040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6" name="Shape 24"/>
          <p:cNvSpPr/>
          <p:nvPr/>
        </p:nvSpPr>
        <p:spPr>
          <a:xfrm>
            <a:off x="8092440" y="320040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7" name="Shape 25"/>
          <p:cNvSpPr/>
          <p:nvPr/>
        </p:nvSpPr>
        <p:spPr>
          <a:xfrm>
            <a:off x="8503920" y="320040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Shape 26"/>
          <p:cNvSpPr/>
          <p:nvPr/>
        </p:nvSpPr>
        <p:spPr>
          <a:xfrm>
            <a:off x="6858000" y="393192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9" name="Shape 27"/>
          <p:cNvSpPr/>
          <p:nvPr/>
        </p:nvSpPr>
        <p:spPr>
          <a:xfrm>
            <a:off x="7269480" y="393192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Shape 28"/>
          <p:cNvSpPr/>
          <p:nvPr/>
        </p:nvSpPr>
        <p:spPr>
          <a:xfrm>
            <a:off x="7680960" y="393192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Shape 29"/>
          <p:cNvSpPr/>
          <p:nvPr/>
        </p:nvSpPr>
        <p:spPr>
          <a:xfrm>
            <a:off x="8092440" y="393192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Shape 30"/>
          <p:cNvSpPr/>
          <p:nvPr/>
        </p:nvSpPr>
        <p:spPr>
          <a:xfrm>
            <a:off x="8503920" y="3931920"/>
            <a:ext cx="73152" cy="73152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3" name="Text 31"/>
          <p:cNvSpPr/>
          <p:nvPr/>
        </p:nvSpPr>
        <p:spPr>
          <a:xfrm>
            <a:off x="45720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4600" dirty="0"/>
          </a:p>
        </p:txBody>
      </p:sp>
      <p:sp>
        <p:nvSpPr>
          <p:cNvPr id="34" name="Text 32"/>
          <p:cNvSpPr/>
          <p:nvPr/>
        </p:nvSpPr>
        <p:spPr>
          <a:xfrm>
            <a:off x="457200" y="16276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Medicare Healthcare Claims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457200" y="2286000"/>
            <a:ext cx="3657600" cy="36576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6" name="Text 34"/>
          <p:cNvSpPr/>
          <p:nvPr/>
        </p:nvSpPr>
        <p:spPr>
          <a:xfrm>
            <a:off x="4572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200" y="2788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 El Khoury  ·  Antonios Abdelnour  ·  Chaza Abdelrahman  ·  Maroun Hajj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Extreme Class Imbalance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fraud detection — needle in a haystack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4864" cy="1554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237744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998878"/>
            <a:ext cx="237744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providers in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54864" cy="155448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Text 9"/>
          <p:cNvSpPr/>
          <p:nvPr/>
        </p:nvSpPr>
        <p:spPr>
          <a:xfrm>
            <a:off x="3429000" y="1170432"/>
            <a:ext cx="237744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1998878"/>
            <a:ext cx="237744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fraud providers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54864" cy="155448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Text 13"/>
          <p:cNvSpPr/>
          <p:nvPr/>
        </p:nvSpPr>
        <p:spPr>
          <a:xfrm>
            <a:off x="6355080" y="1170432"/>
            <a:ext cx="237744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6,715:1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55080" y="1998878"/>
            <a:ext cx="237744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ratio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1783080"/>
          </a:xfrm>
          <a:prstGeom prst="rect">
            <a:avLst/>
          </a:prstGeom>
          <a:solidFill>
            <a:srgbClr val="E9F5F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8" name="Text 16"/>
          <p:cNvSpPr/>
          <p:nvPr/>
        </p:nvSpPr>
        <p:spPr>
          <a:xfrm>
            <a:off x="5486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accuracy is misleading — predicting 'no fraud' always gives 99.98% accuracy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ignore the minority class entirely without special handling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 (not ROC-AUC) is the critical metric — it focuses on the rare fraud class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beneficiary counts, service volumes, charges, payments, provider specialty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fraud detection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554480" cy="3200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246888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flags · Median impute · Log transforms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83664" y="2606040"/>
            <a:ext cx="14630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8"/>
          <p:cNvSpPr/>
          <p:nvPr/>
        </p:nvSpPr>
        <p:spPr>
          <a:xfrm>
            <a:off x="2039112" y="1143000"/>
            <a:ext cx="1554480" cy="3200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1" name="Text 9"/>
          <p:cNvSpPr/>
          <p:nvPr/>
        </p:nvSpPr>
        <p:spPr>
          <a:xfrm>
            <a:off x="2039112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39112" y="1737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12264" y="246888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Fraud-signal ratios · Specialty comparisons · Rare flags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02736" y="2606040"/>
            <a:ext cx="14630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3"/>
          <p:cNvSpPr/>
          <p:nvPr/>
        </p:nvSpPr>
        <p:spPr>
          <a:xfrm>
            <a:off x="3758184" y="1143000"/>
            <a:ext cx="1554480" cy="320040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6" name="Text 14"/>
          <p:cNvSpPr/>
          <p:nvPr/>
        </p:nvSpPr>
        <p:spPr>
          <a:xfrm>
            <a:off x="3758184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58184" y="1737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31336" y="246888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models · Imbalance techniques · Threshold tuning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21808" y="2606040"/>
            <a:ext cx="14630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0" name="Shape 18"/>
          <p:cNvSpPr/>
          <p:nvPr/>
        </p:nvSpPr>
        <p:spPr>
          <a:xfrm>
            <a:off x="5477256" y="1143000"/>
            <a:ext cx="155448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1" name="Text 19"/>
          <p:cNvSpPr/>
          <p:nvPr/>
        </p:nvSpPr>
        <p:spPr>
          <a:xfrm>
            <a:off x="5477256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77256" y="1737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50408" y="246888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BRF · Weight search · Best AUPRC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2606040"/>
            <a:ext cx="14630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Shape 23"/>
          <p:cNvSpPr/>
          <p:nvPr/>
        </p:nvSpPr>
        <p:spPr>
          <a:xfrm>
            <a:off x="7196328" y="1143000"/>
            <a:ext cx="1554480" cy="32004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6" name="Text 24"/>
          <p:cNvSpPr/>
          <p:nvPr/>
        </p:nvSpPr>
        <p:spPr>
          <a:xfrm>
            <a:off x="7196328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196328" y="1737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Monitoring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69480" y="246888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Prediction CSV · PSI drift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Imbalance — Preprocessing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applied in preprocess.ipynb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143000"/>
          </a:xfrm>
          <a:prstGeom prst="rect">
            <a:avLst/>
          </a:prstGeom>
          <a:solidFill>
            <a:srgbClr val="E9F5F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4864" cy="11430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Indicators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_was_missing flags added before imputation — preserves signal from data absence patterns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54864" cy="11430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extreme outliers common in fraudulent billing distributions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621024"/>
            <a:ext cx="4114800" cy="1143000"/>
          </a:xfrm>
          <a:prstGeom prst="rect">
            <a:avLst/>
          </a:prstGeom>
          <a:solidFill>
            <a:srgbClr val="E9F5F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4" name="Shape 12"/>
          <p:cNvSpPr/>
          <p:nvPr/>
        </p:nvSpPr>
        <p:spPr>
          <a:xfrm>
            <a:off x="365760" y="3621024"/>
            <a:ext cx="54864" cy="11430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Text 13"/>
          <p:cNvSpPr/>
          <p:nvPr/>
        </p:nvSpPr>
        <p:spPr>
          <a:xfrm>
            <a:off x="502920" y="3712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9684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applied to 12 skewed financial features — reduces influence of extreme charges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4114800" cy="1143000"/>
          </a:xfrm>
          <a:prstGeom prst="rect">
            <a:avLst/>
          </a:prstGeom>
          <a:solidFill>
            <a:srgbClr val="E9F5F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54864" cy="11430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9" name="Text 17"/>
          <p:cNvSpPr/>
          <p:nvPr/>
        </p:nvSpPr>
        <p:spPr>
          <a:xfrm>
            <a:off x="489204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Fraud-Signal Feature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144475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payment_per_beneficiary, charge_to_payment_ratio, services_per_beneficiary, allowed_to_submitted_ratio — amplify fraud patterns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359152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2" name="Shape 20"/>
          <p:cNvSpPr/>
          <p:nvPr/>
        </p:nvSpPr>
        <p:spPr>
          <a:xfrm>
            <a:off x="4754880" y="2359152"/>
            <a:ext cx="54864" cy="11430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3" name="Text 21"/>
          <p:cNvSpPr/>
          <p:nvPr/>
        </p:nvSpPr>
        <p:spPr>
          <a:xfrm>
            <a:off x="489204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Comparison Features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70662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each provider vs specialty median — flags providers billing unusually vs peers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621024"/>
            <a:ext cx="4114800" cy="1143000"/>
          </a:xfrm>
          <a:prstGeom prst="rect">
            <a:avLst/>
          </a:prstGeom>
          <a:solidFill>
            <a:srgbClr val="E9F5F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6" name="Shape 24"/>
          <p:cNvSpPr/>
          <p:nvPr/>
        </p:nvSpPr>
        <p:spPr>
          <a:xfrm>
            <a:off x="4754880" y="3621024"/>
            <a:ext cx="54864" cy="11430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7" name="Text 25"/>
          <p:cNvSpPr/>
          <p:nvPr/>
        </p:nvSpPr>
        <p:spPr>
          <a:xfrm>
            <a:off x="4892040" y="3712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Entity Flags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684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rare_provider_type, rare_country — captures unusual billing entities unlikely to be fraudulent legitimately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Imbalance — Training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applied in train_model.ipynb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65960" cy="1417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'balanced'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Auto-adjusts weights inversely to class frequencies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65960" cy="1417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2560320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= 6,715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69164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upweighting of fraud class for XGBoost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1965960" cy="141732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4709160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69164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samples (strategy=0.1) in feature space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196596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5" name="Text 13"/>
          <p:cNvSpPr/>
          <p:nvPr/>
        </p:nvSpPr>
        <p:spPr>
          <a:xfrm>
            <a:off x="6858000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Random Forest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169164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bootstrap resampling balances each tree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697480"/>
            <a:ext cx="1965960" cy="14173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8" name="Text 16"/>
          <p:cNvSpPr/>
          <p:nvPr/>
        </p:nvSpPr>
        <p:spPr>
          <a:xfrm>
            <a:off x="41148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 moved from 0.5 to maximize fraud recall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2697480"/>
            <a:ext cx="1965960" cy="141732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1" name="Text 19"/>
          <p:cNvSpPr/>
          <p:nvPr/>
        </p:nvSpPr>
        <p:spPr>
          <a:xfrm>
            <a:off x="256032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eval_metric = aucpr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29184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optimizes AUPRC directly during training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697480"/>
            <a:ext cx="1965960" cy="1417320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4" name="Text 22"/>
          <p:cNvSpPr/>
          <p:nvPr/>
        </p:nvSpPr>
        <p:spPr>
          <a:xfrm>
            <a:off x="470916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29184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reg_alpha, reg_lambda, gamma prevent fraud-class overfitting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697480"/>
            <a:ext cx="1965960" cy="1417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7" name="Text 25"/>
          <p:cNvSpPr/>
          <p:nvPr/>
        </p:nvSpPr>
        <p:spPr>
          <a:xfrm>
            <a:off x="685800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Ensemble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329184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weights (0.9/0.1) found by AUPRC grid search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Original Imbalanced Dataset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1,259,343 providers · 6,715:1 imbalance ratio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116510"/>
              </p:ext>
            </p:extLst>
          </p:nvPr>
        </p:nvGraphicFramePr>
        <p:xfrm>
          <a:off x="320040" y="1005840"/>
          <a:ext cx="8503920" cy="3456432"/>
        </p:xfrm>
        <a:graphic>
          <a:graphicData uri="http://schemas.openxmlformats.org/drawingml/2006/table">
            <a:tbl>
              <a:tblPr/>
              <a:tblGrid>
                <a:gridCol w="1854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7570">
                  <a:extLst>
                    <a:ext uri="{9D8B030D-6E8A-4147-A177-3AD203B41FA5}">
                      <a16:colId xmlns:a16="http://schemas.microsoft.com/office/drawing/2014/main" val="1017457653"/>
                    </a:ext>
                  </a:extLst>
                </a:gridCol>
                <a:gridCol w="2557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AUPRC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FR" sz="85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P@100</a:t>
                      </a:r>
                      <a:endParaRPr lang="en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 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FR" sz="8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0.00</a:t>
                      </a:r>
                      <a:endParaRPr lang="en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class_weight=balanced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FR" sz="8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0.00</a:t>
                      </a:r>
                      <a:endParaRPr lang="en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class_weight=balanced_subsample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+ 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FR" sz="8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0.01</a:t>
                      </a:r>
                      <a:endParaRPr lang="en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oversampling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FR" sz="8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0.00</a:t>
                      </a:r>
                      <a:endParaRPr lang="en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balanced bootstrap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(Tuned)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FR" sz="8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0.01</a:t>
                      </a:r>
                      <a:endParaRPr lang="en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scale_pos_weight=6715 + threshold 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+ 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FR" sz="8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0.01</a:t>
                      </a:r>
                      <a:endParaRPr lang="en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+ eval_metric=aucpr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FR" sz="8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0.00</a:t>
                      </a:r>
                      <a:endParaRPr lang="en-FR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scale_pos_weight + regularization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XGB0.9+BRF0.1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AE2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FR" sz="8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0.01</a:t>
                      </a:r>
                      <a:endParaRPr lang="en-FR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ensemble — best AUPRC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model on original data  ·  AUPRC critically low due to extreme 6,715:1 imbalance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Strategy: Random Undersampling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6,715:1 imbalance at the data level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3566160"/>
          </a:xfrm>
          <a:prstGeom prst="rect">
            <a:avLst/>
          </a:prstGeom>
          <a:solidFill>
            <a:srgbClr val="E9F5F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imbalanced dataset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1691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54864" cy="10058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1508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2339035"/>
            <a:ext cx="15087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1755648"/>
            <a:ext cx="1691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3" name="Shape 11"/>
          <p:cNvSpPr/>
          <p:nvPr/>
        </p:nvSpPr>
        <p:spPr>
          <a:xfrm>
            <a:off x="2331720" y="1755648"/>
            <a:ext cx="54864" cy="100584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Text 12"/>
          <p:cNvSpPr/>
          <p:nvPr/>
        </p:nvSpPr>
        <p:spPr>
          <a:xfrm>
            <a:off x="2468880" y="1828800"/>
            <a:ext cx="1508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6715:1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2339035"/>
            <a:ext cx="15087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834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ignore fraud class entirely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 = 0.0075 (best)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0832" y="2743200"/>
            <a:ext cx="402336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Text 16"/>
          <p:cNvSpPr/>
          <p:nvPr/>
        </p:nvSpPr>
        <p:spPr>
          <a:xfrm>
            <a:off x="4315968" y="2542032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3931920" cy="3566160"/>
          </a:xfrm>
          <a:prstGeom prst="rect">
            <a:avLst/>
          </a:prstGeom>
          <a:solidFill>
            <a:srgbClr val="E6F6F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0" name="Text 18"/>
          <p:cNvSpPr/>
          <p:nvPr/>
        </p:nvSpPr>
        <p:spPr>
          <a:xfrm>
            <a:off x="498348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8348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Undersampled dataset (random_state=42)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1755648"/>
            <a:ext cx="1691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3" name="Shape 21"/>
          <p:cNvSpPr/>
          <p:nvPr/>
        </p:nvSpPr>
        <p:spPr>
          <a:xfrm>
            <a:off x="4983480" y="1755648"/>
            <a:ext cx="54864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2"/>
          <p:cNvSpPr/>
          <p:nvPr/>
        </p:nvSpPr>
        <p:spPr>
          <a:xfrm>
            <a:off x="5120640" y="1828800"/>
            <a:ext cx="1508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2,057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120640" y="2339035"/>
            <a:ext cx="15087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12280" y="1755648"/>
            <a:ext cx="1691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7" name="Shape 25"/>
          <p:cNvSpPr/>
          <p:nvPr/>
        </p:nvSpPr>
        <p:spPr>
          <a:xfrm>
            <a:off x="6812280" y="1755648"/>
            <a:ext cx="54864" cy="100584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6"/>
          <p:cNvSpPr/>
          <p:nvPr/>
        </p:nvSpPr>
        <p:spPr>
          <a:xfrm>
            <a:off x="6949440" y="1828800"/>
            <a:ext cx="1508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949440" y="2339035"/>
            <a:ext cx="15087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2834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187 fraud kept · 1,870 non-fraud sampled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now learn fraud patterns effectively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Undersampled Dataset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2,057 rows · 10:1 ratio · All models retrained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36576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AUPRC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 Technique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class_weight=balanced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class_weight=balanced_subsample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+ 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oversampling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balanced bootstrap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(Base)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scale_pos_weight=10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+ XGBoost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9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+ scale_pos_weight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RandomizedSearchCV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scale_pos_weight + regularization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XGB0.6+BRF0.4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ensemble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72744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single model  ·  5-fold CV: BRF Avg Precision 0.242, XGBoost 0.244  ·  Top SHAP features: allowed-to-submitted ratio, standardized-to-payment ratio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Undersampling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comparison on key metrics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097280"/>
            <a:ext cx="2743200" cy="1188720"/>
          </a:xfrm>
          <a:prstGeom prst="rect">
            <a:avLst/>
          </a:prstGeom>
          <a:solidFill>
            <a:srgbClr val="E6F6F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6126480" y="1097280"/>
            <a:ext cx="54864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5"/>
          <p:cNvSpPr/>
          <p:nvPr/>
        </p:nvSpPr>
        <p:spPr>
          <a:xfrm>
            <a:off x="6263640" y="1170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6364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0.0075 → 0.2524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33× improvement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26480" y="2468880"/>
            <a:ext cx="2743200" cy="118872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6126480" y="2468880"/>
            <a:ext cx="54864" cy="1188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0"/>
          <p:cNvSpPr/>
          <p:nvPr/>
        </p:nvSpPr>
        <p:spPr>
          <a:xfrm>
            <a:off x="6263640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P@100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63640" y="2816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→ 0.21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6364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21× improvement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26480" y="3840480"/>
            <a:ext cx="2743200" cy="1188720"/>
          </a:xfrm>
          <a:prstGeom prst="rect">
            <a:avLst/>
          </a:prstGeom>
          <a:solidFill>
            <a:srgbClr val="E9F5F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6126480" y="3840480"/>
            <a:ext cx="54864" cy="1188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Text 15"/>
          <p:cNvSpPr/>
          <p:nvPr/>
        </p:nvSpPr>
        <p:spPr>
          <a:xfrm>
            <a:off x="6263640" y="3913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4187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0.751 → 0.719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63640" y="4480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improvement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Monitoring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fraud detection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749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475488" y="118872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664208"/>
            <a:ext cx="2432304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/>
          <p:nvPr/>
        </p:nvSpPr>
        <p:spPr>
          <a:xfrm>
            <a:off x="475488" y="1755648"/>
            <a:ext cx="243230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trained models (XGBoost + BRF)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feature alignment &amp; scaling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fraud probability scores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risk rankings to CSV file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3749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3310128" y="118872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10128" y="1664208"/>
            <a:ext cx="2432304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3310128" y="1755648"/>
            <a:ext cx="243230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 for real-time scoring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provider input features as JSON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fraud probability + risk level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as containerized microservice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4" name="Text 12"/>
          <p:cNvSpPr/>
          <p:nvPr/>
        </p:nvSpPr>
        <p:spPr>
          <a:xfrm>
            <a:off x="6144768" y="118872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(PSI)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44768" y="1664208"/>
            <a:ext cx="2432304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Text 14"/>
          <p:cNvSpPr/>
          <p:nvPr/>
        </p:nvSpPr>
        <p:spPr>
          <a:xfrm>
            <a:off x="6144768" y="1755648"/>
            <a:ext cx="243230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Stability Index tracking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training vs incoming distributions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significant feature distribution shifts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automated model retraining alert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228600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" cy="6858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1338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33× AUPRC Improvement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0817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 (10:1) boosted AUPRC from 0.0075 → 0.2524 — the single biggest gain in the 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57200" cy="6858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0482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SMOTE + XGBoost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32257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 0.2524 on undersampled data — outperformed all individual models and the ensemble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57200" cy="6858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962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Value Shifted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3697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rebalanced from XGB 0.9/BRF 0.1 → XGB 0.6/BRF 0.4 as BRF became more competitive on balanced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457200" cy="6858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38770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15137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deployment + PSI drift monitoring make this suitable for real-world Medicare fraud detection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961</Words>
  <Application>Microsoft Macintosh PowerPoint</Application>
  <PresentationFormat>On-screen Show (16:9)</PresentationFormat>
  <Paragraphs>246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Project — Group 22</dc:title>
  <dc:subject>PptxGenJS Presentation</dc:subject>
  <dc:creator>PptxGenJS</dc:creator>
  <cp:lastModifiedBy>Rita Khoury (El)</cp:lastModifiedBy>
  <cp:revision>2</cp:revision>
  <dcterms:created xsi:type="dcterms:W3CDTF">2026-04-23T11:07:36Z</dcterms:created>
  <dcterms:modified xsi:type="dcterms:W3CDTF">2026-04-24T15:25:00Z</dcterms:modified>
</cp:coreProperties>
</file>